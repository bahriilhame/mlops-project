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29.xml" ContentType="application/vnd.openxmlformats-officedocument.presentationml.slide+xml"/>
  <ns0:Override PartName="/ppt/slides/slide3.xml" ContentType="application/vnd.openxmlformats-officedocument.presentationml.slide+xml"/>
  <ns0:Override PartName="/ppt/slides/slide30.xml" ContentType="application/vnd.openxmlformats-officedocument.presentationml.slide+xml"/>
  <ns0:Override PartName="/ppt/slides/slide31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  <ns0:sldId id="284" ns1:id="rId35"/>
    <ns0:sldId id="285" ns1:id="rId36"/>
    <ns0:sldId id="286" ns1:id="rId37"/>
  </ns0:sldIdLst>
  <ns0:sldSz cx="12192000" cy="6858000" type="screen4x3"/>
  <ns0:notesSz cx="6858000" cy="9144000"/>
  <ns0:embeddedFontLst>
    <ns0:embeddedFont>
      <ns0:font typeface="Plus Jakarta Sans"/>
      <ns0:bold ns1:id="rIdFont38"/>
      <ns0:regular ns1:id="rIdFont39"/>
    </ns0:embeddedFont>
    <ns0:embeddedFont>
      <ns0:font typeface="Inter"/>
      <ns0:bold ns1:id="rIdFont40"/>
      <ns0:regular ns1:id="rIdFont4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28" Type="http://schemas.openxmlformats.org/officeDocument/2006/relationships/slide" Target="slides/slide22.xml" /><ns0:Relationship Id="rId29" Type="http://schemas.openxmlformats.org/officeDocument/2006/relationships/slide" Target="slides/slide23.xml" /><ns0:Relationship Id="rId30" Type="http://schemas.openxmlformats.org/officeDocument/2006/relationships/slide" Target="slides/slide24.xml" /><ns0:Relationship Id="rId31" Type="http://schemas.openxmlformats.org/officeDocument/2006/relationships/slide" Target="slides/slide25.xml" /><ns0:Relationship Id="rId32" Type="http://schemas.openxmlformats.org/officeDocument/2006/relationships/slide" Target="slides/slide26.xml" /><ns0:Relationship Id="rId33" Type="http://schemas.openxmlformats.org/officeDocument/2006/relationships/slide" Target="slides/slide27.xml" /><ns0:Relationship Id="rId34" Type="http://schemas.openxmlformats.org/officeDocument/2006/relationships/slide" Target="slides/slide28.xml" /><ns0:Relationship Id="rId35" Type="http://schemas.openxmlformats.org/officeDocument/2006/relationships/slide" Target="slides/slide29.xml" /><ns0:Relationship Id="rId36" Type="http://schemas.openxmlformats.org/officeDocument/2006/relationships/slide" Target="slides/slide30.xml" /><ns0:Relationship Id="rId37" Type="http://schemas.openxmlformats.org/officeDocument/2006/relationships/slide" Target="slides/slide31.xml" /><ns0:Relationship Id="rIdFont38" Type="http://schemas.openxmlformats.org/officeDocument/2006/relationships/font" Target="fonts/410d74d9-7ca1-429e-9681-df155f23f3d7.fntdata" /><ns0:Relationship Id="rIdFont39" Type="http://schemas.openxmlformats.org/officeDocument/2006/relationships/font" Target="fonts/1793a98a-d253-46af-9620-0b33b29cd0b3.fntdata" /><ns0:Relationship Id="rIdFont40" Type="http://schemas.openxmlformats.org/officeDocument/2006/relationships/font" Target="fonts/05d9c414-abdd-4c7d-9d02-3721eceb656e.fntdata" /><ns0:Relationship Id="rIdFont41" Type="http://schemas.openxmlformats.org/officeDocument/2006/relationships/font" Target="fonts/890a124f-47fe-48eb-b270-939b5272987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013495"/>
            <a:ext cx="609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6858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0B981"/>
                </a:solidFill>
                <a:latin typeface="Plus Jakarta Sans"/>
              </a:rPr>
              <a:t>PROJET DE MASTER EN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8225"/>
            <a:ext cx="7200900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ECFDF5"/>
                </a:solidFill>
                <a:latin typeface="Plus Jakarta Sans"/>
              </a:rPr>
              <a:t>EduCluster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56395"/>
            <a:ext cx="6858000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0" sz="1800" i="0" u="none">
                <a:solidFill>
                  <a:srgbClr val="A7F3D0"/>
                </a:solidFill>
                <a:latin typeface="Inter"/>
              </a:rPr>
              <a:t>Analyse des parcours d’apprentissage.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05856"/>
            <a:ext cx="6858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ECFDF5"/>
                </a:solidFill>
                <a:latin typeface="Inter"/>
              </a:rPr>
              <a:t>Clustering des étudiants avec OULAD.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86475"/>
            <a:ext cx="6858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EE7B7"/>
                </a:solidFill>
                <a:latin typeface="Inter"/>
              </a:rPr>
              <a:t>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88047"/>
            <a:ext cx="5257800" cy="1807666"/>
          </a:xfrm>
          <a:prstGeom prst="roundRect">
            <a:avLst>
              <a:gd name="adj" fmla="val 84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485900"/>
            <a:ext cx="5257800" cy="4762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Le problème étudié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167086"/>
            <a:ext cx="53530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Les étudiants interagissent différemment avec les ressources.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376713"/>
            <a:ext cx="6572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Un faible engagement ne prédit pas un échec certain.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3569047"/>
            <a:ext cx="4591050" cy="693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Regrouper les comportements proches.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4414688"/>
            <a:ext cx="5619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Inter"/>
              </a:rPr>
              <a:t>Identifier plusieurs profils d'apprentissage distincts.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24162"/>
            <a:ext cx="2571750" cy="23622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728912"/>
            <a:ext cx="2571750" cy="255270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919412"/>
            <a:ext cx="2571750" cy="217170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824162"/>
            <a:ext cx="2571750" cy="23622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3848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304323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5" y="3233737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975" y="3138487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3271837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7625" y="3176587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0" y="3367087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8325" y="3271837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VUE D'ENSEMBLE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8858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Le workflow MLOps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824287"/>
            <a:ext cx="255031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2C22"/>
                </a:solidFill>
                <a:latin typeface="Plus Jakarta Sans"/>
              </a:rPr>
              <a:t>1. Préparer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4224337"/>
            <a:ext cx="2038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OULAD versionné avec DVC.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4681537"/>
            <a:ext cx="2428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dlt charge DuckDB.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4275" y="3729037"/>
            <a:ext cx="255031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2C22"/>
                </a:solidFill>
                <a:latin typeface="Plus Jakarta Sans"/>
              </a:rPr>
              <a:t>2. Entraîner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4275" y="4129087"/>
            <a:ext cx="2038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Dagster orchestre K-Means.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4275" y="4586287"/>
            <a:ext cx="2038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MLflow conserve les résultats.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4625" y="3919537"/>
            <a:ext cx="255031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2C22"/>
                </a:solidFill>
                <a:latin typeface="Plus Jakarta Sans"/>
              </a:rPr>
              <a:t>3. Livrer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5" y="4319587"/>
            <a:ext cx="2428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Modèle intégré au code.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4625" y="4586287"/>
            <a:ext cx="2428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Déploiement par Komodo.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4975" y="3824287"/>
            <a:ext cx="255031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2C22"/>
                </a:solidFill>
                <a:latin typeface="Plus Jakarta Sans"/>
              </a:rPr>
              <a:t>4. Exploiter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4975" y="4224337"/>
            <a:ext cx="2428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FastAPI charge le modèle.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4975" y="4491037"/>
            <a:ext cx="2038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React demande des prédictions.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781425"/>
            <a:ext cx="114300" cy="152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171950"/>
            <a:ext cx="15240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4562475"/>
            <a:ext cx="1333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2" y="3781425"/>
            <a:ext cx="1524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6562" y="4171950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6562" y="4562475"/>
            <a:ext cx="1524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381000" y="1662112"/>
            <a:ext cx="12954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Deux workflows, deux déclencheurs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148012"/>
            <a:ext cx="569446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64E3B"/>
                </a:solidFill>
                <a:latin typeface="Plus Jakarta Sans"/>
              </a:rPr>
              <a:t>Données et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6562" y="3148012"/>
            <a:ext cx="540543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64E3B"/>
                </a:solidFill>
                <a:latin typeface="Plus Jakarta Sans"/>
              </a:rPr>
              <a:t>Livraison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7800" y="3757612"/>
            <a:ext cx="3595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Inter"/>
              </a:rPr>
              <a:t>Lancement matérialisation Dagster.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7800" y="4148137"/>
            <a:ext cx="3798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Inter"/>
              </a:rPr>
              <a:t>Ingestion, préparation, entraînement.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7800" y="4538662"/>
            <a:ext cx="3583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Inter"/>
              </a:rPr>
              <a:t>Modèle, scaler, manifeste produits.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7562" y="3757612"/>
            <a:ext cx="2059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Inter"/>
              </a:rPr>
              <a:t>Push ou PR pour CI.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7562" y="4148137"/>
            <a:ext cx="3893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Inter"/>
              </a:rPr>
              <a:t>Webhook vers Komodo après succès.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7562" y="4538662"/>
            <a:ext cx="3036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Inter"/>
              </a:rPr>
              <a:t>Services déployés et vérifiés.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47950"/>
            <a:ext cx="5257800" cy="2219325"/>
          </a:xfrm>
          <a:prstGeom prst="roundRect">
            <a:avLst>
              <a:gd name="adj" fmla="val 68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2647950"/>
            <a:ext cx="5257800" cy="2219325"/>
          </a:xfrm>
          <a:prstGeom prst="roundRect">
            <a:avLst>
              <a:gd name="adj" fmla="val 68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SOURCES OULAD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58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Données et caractéristiques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381000" y="6057900"/>
            <a:ext cx="1295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Même ordre de variables conservé à l'entraînement et à la prédiction.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1325" y="2952750"/>
            <a:ext cx="8001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b="1" sz="7200" i="0" u="none">
                <a:solidFill>
                  <a:srgbClr val="047857"/>
                </a:solidFill>
                <a:latin typeface="Plus Jakarta Sa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0787" y="4019550"/>
            <a:ext cx="186928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Tables brutes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3765" y="4371975"/>
            <a:ext cx="33694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Inscriptions, évaluations, interactions.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7712" y="2952750"/>
            <a:ext cx="1464468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b="1" sz="7200" i="0" u="none">
                <a:solidFill>
                  <a:srgbClr val="0F172A"/>
                </a:solidFill>
                <a:latin typeface="Plus Jakarta Sans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0" y="4019550"/>
            <a:ext cx="25717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Variables retenues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0" y="4371975"/>
            <a:ext cx="2476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Clics, délais, scores, ratios.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81150" y="3176587"/>
            <a:ext cx="2857500" cy="1838325"/>
          </a:xfrm>
          <a:prstGeom prst="roundRect">
            <a:avLst>
              <a:gd name="adj" fmla="val 82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667250" y="3176587"/>
            <a:ext cx="2857500" cy="1838325"/>
          </a:xfrm>
          <a:prstGeom prst="roundRect">
            <a:avLst>
              <a:gd name="adj" fmla="val 82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53350" y="3176587"/>
            <a:ext cx="2857500" cy="1838325"/>
          </a:xfrm>
          <a:prstGeom prst="roundRect">
            <a:avLst>
              <a:gd name="adj" fmla="val 82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348138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825" y="3481387"/>
            <a:ext cx="51435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2075" y="3481387"/>
            <a:ext cx="40005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381000" y="1843087"/>
            <a:ext cx="12954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Ingestion des données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2276" y="4167187"/>
            <a:ext cx="197524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Fichiers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0212" y="4519612"/>
            <a:ext cx="2619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Sept CSV décrivent l'activité.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8382" y="4167187"/>
            <a:ext cx="187523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Lecture par 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8250" y="4519612"/>
            <a:ext cx="2095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Blocs de 10 000 lignes.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232" y="4167187"/>
            <a:ext cx="18877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Chargement dlt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6459" y="4519612"/>
            <a:ext cx="26312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Table DuckDB mode replace.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90800"/>
            <a:ext cx="5372100" cy="1162050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590800"/>
            <a:ext cx="5372100" cy="1162050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81450"/>
            <a:ext cx="5372100" cy="1162050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981450"/>
            <a:ext cx="5372100" cy="1162050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dbt : construire une ligne exploitable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2905125"/>
            <a:ext cx="622577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4E3B"/>
                </a:solidFill>
                <a:latin typeface="Plus Jakarta Sans"/>
              </a:rPr>
              <a:t>Staging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248025"/>
            <a:ext cx="5929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Modèles stg_* préparent les tables.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905125"/>
            <a:ext cx="56673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4E3B"/>
                </a:solidFill>
                <a:latin typeface="Plus Jakarta Sans"/>
              </a:rPr>
              <a:t>Agrégations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248025"/>
            <a:ext cx="5667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Regroupement profils et évaluations.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295775"/>
            <a:ext cx="622577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4E3B"/>
                </a:solidFill>
                <a:latin typeface="Plus Jakarta Sans"/>
              </a:rPr>
              <a:t>Table finale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638675"/>
            <a:ext cx="5929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Données unifiées par étudiant.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4295775"/>
            <a:ext cx="56673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4E3B"/>
                </a:solidFill>
                <a:latin typeface="Plus Jakarta Sans"/>
              </a:rPr>
              <a:t>Contrôles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4638675"/>
            <a:ext cx="5667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Exécution des tests déclarés.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26246" y="3957637"/>
            <a:ext cx="600521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95813" y="3957637"/>
            <a:ext cx="600521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65381" y="3957637"/>
            <a:ext cx="600521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36923" y="3548062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06490" y="3548062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76058" y="3548062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5625" y="3548062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2090737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366962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Prétraitement des 34 caractéristiques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4048" y="3548062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6910" y="4310062"/>
            <a:ext cx="11501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Sélection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385" y="4605337"/>
            <a:ext cx="198834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Vérification des colonnes.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3615" y="3548062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3615" y="4310062"/>
            <a:ext cx="124015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Nettoyage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2628" y="4605337"/>
            <a:ext cx="18216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Infinis remplacés par 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3183" y="3548062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2683" y="4310062"/>
            <a:ext cx="167520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3645" y="4605337"/>
            <a:ext cx="14001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Application log1p.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2750" y="3548062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Inter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17013" y="4310062"/>
            <a:ext cx="166270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Mise à l'échelle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5088" y="4605337"/>
            <a:ext cx="198834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StandardScaler appliqué.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7987"/>
            <a:ext cx="2571750" cy="1838325"/>
          </a:xfrm>
          <a:prstGeom prst="roundRect">
            <a:avLst>
              <a:gd name="adj" fmla="val 82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3038475"/>
            <a:ext cx="2571750" cy="1657350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038475"/>
            <a:ext cx="2571750" cy="1657350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3038475"/>
            <a:ext cx="2571750" cy="1657350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075" y="3262312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425" y="335280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775" y="3352800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5075" y="3352800"/>
            <a:ext cx="3429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Préparation et comparaison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2550" y="3757612"/>
            <a:ext cx="144018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2C22"/>
                </a:solidFill>
                <a:latin typeface="Plus Jakarta Sans"/>
              </a:rPr>
              <a:t>Préparation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110037"/>
            <a:ext cx="2038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Transformation logarithmique.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6700" y="3848100"/>
            <a:ext cx="162520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2C22"/>
                </a:solidFill>
                <a:latin typeface="Plus Jakarta Sans"/>
              </a:rPr>
              <a:t>Comparaison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4762" y="4200525"/>
            <a:ext cx="22026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K-Means, GMM, DBSCAN.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400" y="3848100"/>
            <a:ext cx="13201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2C22"/>
                </a:solidFill>
                <a:latin typeface="Plus Jakarta Sans"/>
              </a:rPr>
              <a:t>Évaluation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7487" y="4200525"/>
            <a:ext cx="23217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Silhouette, Davies–Bouldin.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01212" y="3848100"/>
            <a:ext cx="156269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2C22"/>
                </a:solidFill>
                <a:latin typeface="Plus Jakarta Sans"/>
              </a:rPr>
              <a:t>Modèle Servi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9275" y="4200525"/>
            <a:ext cx="2143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K-Means à deux clusters.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85900"/>
            <a:ext cx="5257800" cy="1457325"/>
          </a:xfrm>
          <a:prstGeom prst="roundRect">
            <a:avLst>
              <a:gd name="adj" fmla="val 784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485900"/>
            <a:ext cx="5257800" cy="1435149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3149649"/>
            <a:ext cx="5257800" cy="1435149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24600" y="4813399"/>
            <a:ext cx="5257800" cy="1435149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Entraînement et lecture des métriques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00425"/>
            <a:ext cx="657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Ne mesure pas une accuracy de réussite.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714500"/>
            <a:ext cx="6000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E2E8F0"/>
                </a:solidFill>
                <a:latin typeface="monospace"/>
              </a:rPr>
              <a:t>KMeans(n_clusters=2,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914525"/>
            <a:ext cx="6000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E2E8F0"/>
                </a:solidFill>
                <a:latin typeface="monospace"/>
              </a:rPr>
              <a:t>       random_state=42,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114550"/>
            <a:ext cx="6000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E2E8F0"/>
                </a:solidFill>
                <a:latin typeface="monospace"/>
              </a:rPr>
              <a:t>       n_init=10)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514600"/>
            <a:ext cx="6000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E2E8F0"/>
                </a:solidFill>
                <a:latin typeface="monospace"/>
              </a:rPr>
              <a:t>model.fit_predict(X)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1724025"/>
            <a:ext cx="56292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64E3B"/>
                </a:solidFill>
                <a:latin typeface="Plus Jakarta Sans"/>
              </a:rPr>
              <a:t>Silhouette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2038350"/>
            <a:ext cx="5629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Valeur élevée préférable.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387774"/>
            <a:ext cx="56292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64E3B"/>
                </a:solidFill>
                <a:latin typeface="Plus Jakarta Sans"/>
              </a:rPr>
              <a:t>Davies–Bouldin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702099"/>
            <a:ext cx="5629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Valeur faible préférable.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5051524"/>
            <a:ext cx="56292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64E3B"/>
                </a:solidFill>
                <a:latin typeface="Plus Jakarta Sans"/>
              </a:rPr>
              <a:t>Calinski–Harabasz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5365849"/>
            <a:ext cx="5629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Comparaison de regroupements.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81537" y="2767012"/>
            <a:ext cx="19050" cy="9525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34262" y="2767012"/>
            <a:ext cx="19050" cy="9525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77717" y="2147887"/>
            <a:ext cx="254570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0B981"/>
                </a:solidFill>
                <a:latin typeface="Inter"/>
              </a:rPr>
              <a:t>RÉSULTATS DE RÉFÉRENCE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67212" y="4519612"/>
            <a:ext cx="4321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EE7B7"/>
                </a:solidFill>
                <a:latin typeface="Inter"/>
              </a:rPr>
              <a:t>Résultats enregistrés, sans nouveau calcul local.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6412" y="2767012"/>
            <a:ext cx="3059906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10B981"/>
                </a:solidFill>
                <a:latin typeface="Plus Jakarta Sans"/>
              </a:rPr>
              <a:t>32 593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2150" y="3681412"/>
            <a:ext cx="2595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A7F3D0"/>
                </a:solidFill>
                <a:latin typeface="Inter"/>
              </a:rPr>
              <a:t>Étudiants de référence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7787" y="2767012"/>
            <a:ext cx="2274093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10B981"/>
                </a:solidFill>
                <a:latin typeface="Plus Jakarta Sans"/>
              </a:rPr>
              <a:t>0.45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6837" y="3681412"/>
            <a:ext cx="22264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A7F3D0"/>
                </a:solidFill>
                <a:latin typeface="Inter"/>
              </a:rPr>
              <a:t>Score de silhouette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10512" y="2767012"/>
            <a:ext cx="3131343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10B981"/>
                </a:solidFill>
                <a:latin typeface="Plus Jakarta Sans"/>
              </a:rPr>
              <a:t>78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3925" y="3681412"/>
            <a:ext cx="15478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A7F3D0"/>
                </a:solidFill>
                <a:latin typeface="Inter"/>
              </a:rPr>
              <a:t>Répartition 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509962"/>
            <a:ext cx="76200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967162"/>
            <a:ext cx="76200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424362"/>
            <a:ext cx="76200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609600"/>
            <a:ext cx="5486400" cy="5638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09600"/>
            <a:ext cx="5486400" cy="563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281237"/>
            <a:ext cx="6286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TRAÇABILITÉ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557462"/>
            <a:ext cx="6600825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Suivi avec MLflow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433762"/>
            <a:ext cx="2667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Paramètres du modèle.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890962"/>
            <a:ext cx="27860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Métriques de clustering.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348162"/>
            <a:ext cx="22979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Modèle et artefacts.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748" y="3619500"/>
            <a:ext cx="1843980" cy="6477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91879" y="3619500"/>
            <a:ext cx="1843980" cy="6477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74009" y="3619500"/>
            <a:ext cx="1843980" cy="6477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56140" y="3619500"/>
            <a:ext cx="1843980" cy="6477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38270" y="3619500"/>
            <a:ext cx="1843980" cy="6477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129" y="3867150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259" y="3867150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390" y="3867150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2520" y="3867150"/>
            <a:ext cx="13335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381000" y="2590800"/>
            <a:ext cx="12954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Les étapes du pipeline Dagster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839" y="3848100"/>
            <a:ext cx="9715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64E3B"/>
                </a:solidFill>
                <a:latin typeface="Inter"/>
              </a:rPr>
              <a:t>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7132" y="3848100"/>
            <a:ext cx="14192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64E3B"/>
                </a:solidFill>
                <a:latin typeface="Inter"/>
              </a:rPr>
              <a:t>Transformation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2137" y="3848100"/>
            <a:ext cx="11334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64E3B"/>
                </a:solidFill>
                <a:latin typeface="Inter"/>
              </a:rPr>
              <a:t>Préparation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9517" y="3848100"/>
            <a:ext cx="9429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64E3B"/>
                </a:solidFill>
                <a:latin typeface="Inter"/>
              </a:rPr>
              <a:t>K-Means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8798" y="3848100"/>
            <a:ext cx="8286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64E3B"/>
                </a:solidFill>
                <a:latin typeface="Inter"/>
              </a:rPr>
              <a:t>MLflow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09850"/>
            <a:ext cx="5372100" cy="1143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609850"/>
            <a:ext cx="5372100" cy="1143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81450"/>
            <a:ext cx="5372100" cy="1143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981450"/>
            <a:ext cx="5372100" cy="1143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Exécution d'une matérialisation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14650"/>
            <a:ext cx="625078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4E3B"/>
                </a:solidFill>
                <a:latin typeface="Plus Jakarta Sans"/>
              </a:rPr>
              <a:t>Dépendances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57550"/>
            <a:ext cx="5953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Ordre de calcul strict.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2914650"/>
            <a:ext cx="56769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4E3B"/>
                </a:solidFill>
                <a:latin typeface="Plus Jakarta Sans"/>
              </a:rPr>
              <a:t>Exécution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3257550"/>
            <a:ext cx="56769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Lancement en sous-processus.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86250"/>
            <a:ext cx="625078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4E3B"/>
                </a:solidFill>
                <a:latin typeface="Plus Jakarta Sans"/>
              </a:rPr>
              <a:t>Résultat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29150"/>
            <a:ext cx="5953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Fichiers produits exposés.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4286250"/>
            <a:ext cx="56769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4E3B"/>
                </a:solidFill>
                <a:latin typeface="Plus Jakarta Sans"/>
              </a:rPr>
              <a:t>Échec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4629150"/>
            <a:ext cx="56769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Arrêt des étapes dépendantes.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609600"/>
            <a:ext cx="5486400" cy="563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776412"/>
            <a:ext cx="5380672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Prédiction depuis le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071812"/>
            <a:ext cx="66008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64E3B"/>
                </a:solidFill>
                <a:latin typeface="Plus Jakarta Sans"/>
              </a:rPr>
              <a:t>1. Saisie des valeurs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348037"/>
            <a:ext cx="6286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34 caractéristiques requises.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843337"/>
            <a:ext cx="66008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64E3B"/>
                </a:solidFill>
                <a:latin typeface="Plus Jakarta Sans"/>
              </a:rPr>
              <a:t>2. Traitement FastAPI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119562"/>
            <a:ext cx="6286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Validation et prétraitement.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614862"/>
            <a:ext cx="66008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64E3B"/>
                </a:solidFill>
                <a:latin typeface="Plus Jakarta Sans"/>
              </a:rPr>
              <a:t>3. Résultat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891087"/>
            <a:ext cx="6286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Renvoi cluster et profil.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26246" y="3819525"/>
            <a:ext cx="600521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95813" y="3819525"/>
            <a:ext cx="600521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65381" y="3819525"/>
            <a:ext cx="600521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323" y="3562350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890" y="3562350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558" y="3562350"/>
            <a:ext cx="2286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8025" y="356235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238125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Requête étape par étape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298" y="4019550"/>
            <a:ext cx="104013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Requête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110" y="4314825"/>
            <a:ext cx="17740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Envoi à POST /predict.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428" y="4019550"/>
            <a:ext cx="11901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5003" y="4314825"/>
            <a:ext cx="19407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Schéma Pydantic vérifie.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4158" y="4019550"/>
            <a:ext cx="86010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Calcul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9795" y="4314825"/>
            <a:ext cx="22026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Transformations appliquées.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3713" y="4019550"/>
            <a:ext cx="107013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Réponse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8425" y="4314825"/>
            <a:ext cx="1905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JSON contenant cluster.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19412"/>
            <a:ext cx="5257800" cy="1895475"/>
          </a:xfrm>
          <a:prstGeom prst="roundRect">
            <a:avLst>
              <a:gd name="adj" fmla="val 804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2914650"/>
            <a:ext cx="52578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Modèle servi et résultats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925" y="3233737"/>
            <a:ext cx="6075759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64E3B"/>
                </a:solidFill>
                <a:latin typeface="Plus Jakarta Sans"/>
              </a:rPr>
              <a:t>Au démarrage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671887"/>
            <a:ext cx="5786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Chargement du modèle.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986212"/>
            <a:ext cx="5786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Contrôle empreintes SHA-256.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300537"/>
            <a:ext cx="5786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Blocage si incompatibilité.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228975"/>
            <a:ext cx="55530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64E3B"/>
                </a:solidFill>
                <a:latin typeface="Plus Jakarta Sans"/>
              </a:rPr>
              <a:t>Dans le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667125"/>
            <a:ext cx="55530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Affichage sorties locales.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3981450"/>
            <a:ext cx="55530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Fallback résultats référence.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4295775"/>
            <a:ext cx="55530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Référence ≠ entraînement récent.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81337"/>
            <a:ext cx="2571750" cy="1724025"/>
          </a:xfrm>
          <a:prstGeom prst="roundRect">
            <a:avLst>
              <a:gd name="adj" fmla="val 8839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3081337"/>
            <a:ext cx="2571750" cy="1724025"/>
          </a:xfrm>
          <a:prstGeom prst="roundRect">
            <a:avLst>
              <a:gd name="adj" fmla="val 8839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081337"/>
            <a:ext cx="2571750" cy="1724025"/>
          </a:xfrm>
          <a:prstGeom prst="roundRect">
            <a:avLst>
              <a:gd name="adj" fmla="val 8839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3081337"/>
            <a:ext cx="2571750" cy="1724025"/>
          </a:xfrm>
          <a:prstGeom prst="roundRect">
            <a:avLst>
              <a:gd name="adj" fmla="val 8839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381000" y="2052637"/>
            <a:ext cx="12954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b="1" sz="3000" i="0" u="none">
                <a:solidFill>
                  <a:srgbClr val="ECFDF5"/>
                </a:solidFill>
                <a:latin typeface="Plus Jakarta Sans"/>
              </a:rPr>
              <a:t>Déploiement des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7787" y="3462337"/>
            <a:ext cx="1381125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10B981"/>
                </a:solidFill>
                <a:latin typeface="Plus Jakarta Sans"/>
              </a:rPr>
              <a:t>4201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3550" y="4195762"/>
            <a:ext cx="609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Inter"/>
              </a:rPr>
              <a:t>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05275" y="3462337"/>
            <a:ext cx="1476375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10B981"/>
                </a:solidFill>
                <a:latin typeface="Plus Jakarta Sans"/>
              </a:rPr>
              <a:t>4202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7687" y="4195762"/>
            <a:ext cx="9620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Inter"/>
              </a:rPr>
              <a:t>MLflow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5625" y="3462337"/>
            <a:ext cx="1476375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10B981"/>
                </a:solidFill>
                <a:latin typeface="Plus Jakarta Sans"/>
              </a:rPr>
              <a:t>4203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5637" y="4195762"/>
            <a:ext cx="12668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Inter"/>
              </a:rP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1687" y="3462337"/>
            <a:ext cx="1512093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10B981"/>
                </a:solidFill>
                <a:latin typeface="Plus Jakarta Sans"/>
              </a:rPr>
              <a:t>4204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34575" y="4195762"/>
            <a:ext cx="10096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Inter"/>
              </a:rPr>
              <a:t>Dagster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7987"/>
            <a:ext cx="2571750" cy="1838325"/>
          </a:xfrm>
          <a:prstGeom prst="roundRect">
            <a:avLst>
              <a:gd name="adj" fmla="val 82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947987"/>
            <a:ext cx="2571750" cy="1838325"/>
          </a:xfrm>
          <a:prstGeom prst="roundRect">
            <a:avLst>
              <a:gd name="adj" fmla="val 82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947987"/>
            <a:ext cx="2571750" cy="1838325"/>
          </a:xfrm>
          <a:prstGeom prst="roundRect">
            <a:avLst>
              <a:gd name="adj" fmla="val 82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947987"/>
            <a:ext cx="2571750" cy="1838325"/>
          </a:xfrm>
          <a:prstGeom prst="roundRect">
            <a:avLst>
              <a:gd name="adj" fmla="val 82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075" y="3262312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325" y="3262312"/>
            <a:ext cx="3810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5675" y="3262312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3175" y="3262312"/>
            <a:ext cx="2667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Comment les services communiquent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5887" y="3757612"/>
            <a:ext cx="13701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2C22"/>
                </a:solidFill>
                <a:latin typeface="Plus Jakarta Sans"/>
              </a:rPr>
              <a:t>Navigateur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110037"/>
            <a:ext cx="2038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Appel URL via VITE_API_URL.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5262" y="3757612"/>
            <a:ext cx="181272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2C22"/>
                </a:solidFill>
                <a:latin typeface="Plus Jakarta Sans"/>
              </a:rPr>
              <a:t>Réseau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4275" y="4110037"/>
            <a:ext cx="2038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Résolution par noms services.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0862" y="3757612"/>
            <a:ext cx="156269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2C22"/>
                </a:solidFill>
                <a:latin typeface="Plus Jakarta Sans"/>
              </a:rPr>
              <a:t>Ports publiés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150" y="4110037"/>
            <a:ext cx="24050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Liaison hôte vers conteneur.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5537" y="3757612"/>
            <a:ext cx="89011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2C22"/>
                </a:solidFill>
                <a:latin typeface="Plus Jakarta Sans"/>
              </a:rPr>
              <a:t>CORS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4975" y="4110037"/>
            <a:ext cx="2038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API autorise origine dashboard.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47962"/>
            <a:ext cx="5372100" cy="1143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747962"/>
            <a:ext cx="5372100" cy="1143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119562"/>
            <a:ext cx="5372100" cy="1143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119562"/>
            <a:ext cx="5372100" cy="1143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AUTOMATISATION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858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GitHub Actions et Komodo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52762"/>
            <a:ext cx="625078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4E3B"/>
                </a:solidFill>
                <a:latin typeface="Plus Jakarta Sans"/>
              </a:rPr>
              <a:t>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95662"/>
            <a:ext cx="5953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Tests API et sécurité.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3052762"/>
            <a:ext cx="56769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4E3B"/>
                </a:solidFill>
                <a:latin typeface="Plus Jakarta Sans"/>
              </a:rPr>
              <a:t>Construction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3395662"/>
            <a:ext cx="56769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Build frontend et Docker.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24362"/>
            <a:ext cx="625078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4E3B"/>
                </a:solidFill>
                <a:latin typeface="Plus Jakarta Sans"/>
              </a:rPr>
              <a:t>Déploiement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67262"/>
            <a:ext cx="5953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Webhook signé vers Komodo.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4424362"/>
            <a:ext cx="56769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4E3B"/>
                </a:solidFill>
                <a:latin typeface="Plus Jakarta Sans"/>
              </a:rPr>
              <a:t>Vérification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4767262"/>
            <a:ext cx="56769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Contrôles HTTP post-déploiement.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26246" y="3819525"/>
            <a:ext cx="600521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95813" y="3819525"/>
            <a:ext cx="600521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65381" y="3819525"/>
            <a:ext cx="600521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36923" y="34099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06490" y="34099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76058" y="332898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5625" y="34099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2147887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Les conditions avant la mise en ligne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4048" y="3409950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848" y="4171950"/>
            <a:ext cx="14001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Contrôles 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7360" y="4467225"/>
            <a:ext cx="15359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Quatre jobs réussis.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3615" y="3409950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2178" y="4171950"/>
            <a:ext cx="139017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Autorisation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2628" y="4467225"/>
            <a:ext cx="18216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Push sur branche main.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3183" y="332898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145" y="4090987"/>
            <a:ext cx="107013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Komodo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8735" y="4386262"/>
            <a:ext cx="215949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Webhook demande déploiement.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2750" y="3409950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Inter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64650" y="4171950"/>
            <a:ext cx="13201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Vérification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6513" y="4467225"/>
            <a:ext cx="20597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Services HTTP répondent.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62300"/>
            <a:ext cx="3505200" cy="1219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62300"/>
            <a:ext cx="3505200" cy="1219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62300"/>
            <a:ext cx="3505200" cy="1219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Publier une nouvelle version du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381000" y="6057900"/>
            <a:ext cx="1295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Un run MLflow réussi ne remplace pas automatiquement le modèle chargé par l'API.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76625"/>
            <a:ext cx="377547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2C22"/>
                </a:solidFill>
                <a:latin typeface="Plus Jakarta Sans"/>
              </a:rPr>
              <a:t>Entraîner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876675"/>
            <a:ext cx="3595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Production nouveau modèle et scaler.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7725" y="3476625"/>
            <a:ext cx="377547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2C22"/>
                </a:solidFill>
                <a:latin typeface="Plus Jakarta Sans"/>
              </a:rPr>
              <a:t>Valider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876675"/>
            <a:ext cx="3595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Cohérence globale conservée.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1525" y="3476625"/>
            <a:ext cx="377547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2C22"/>
                </a:solidFill>
                <a:latin typeface="Plus Jakarta Sans"/>
              </a:rPr>
              <a:t>Livrer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3876675"/>
            <a:ext cx="3595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Image API reconstruite avec bundle.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67012"/>
            <a:ext cx="5257800" cy="2352675"/>
          </a:xfrm>
          <a:prstGeom prst="roundRect">
            <a:avLst>
              <a:gd name="adj" fmla="val 64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2767012"/>
            <a:ext cx="5257800" cy="2352675"/>
          </a:xfrm>
          <a:prstGeom prst="roundRect">
            <a:avLst>
              <a:gd name="adj" fmla="val 647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805237"/>
            <a:ext cx="1333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148137"/>
            <a:ext cx="13335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491037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3805237"/>
            <a:ext cx="1714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4148137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800" y="4491037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381000" y="1738312"/>
            <a:ext cx="12954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État de fonctionnement et limites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224212"/>
            <a:ext cx="5700712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64E3B"/>
                </a:solidFill>
                <a:latin typeface="Plus Jakarta Sans"/>
              </a:rPr>
              <a:t>Mesures de stabilité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1800" y="3224212"/>
            <a:ext cx="54102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64E3B"/>
                </a:solidFill>
                <a:latin typeface="Plus Jakarta Sans"/>
              </a:rPr>
              <a:t>État au 18 septembre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2550" y="3786187"/>
            <a:ext cx="2690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Worker distinct du webserver.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2550" y="4129087"/>
            <a:ext cx="22145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Limites mémoire et CPU.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2550" y="4471987"/>
            <a:ext cx="2035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Ingestion par lots CSV.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5650" y="3786187"/>
            <a:ext cx="22502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Local sain et fonctionnel.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129087"/>
            <a:ext cx="3536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OULAD manquant pour réentraînement.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4471987"/>
            <a:ext cx="2238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Accès public à résoudre.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09850"/>
            <a:ext cx="5372100" cy="1143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609850"/>
            <a:ext cx="5372100" cy="1143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81450"/>
            <a:ext cx="5372100" cy="1143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981450"/>
            <a:ext cx="5372100" cy="1143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Ce que nous vérifions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14650"/>
            <a:ext cx="625078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4E3B"/>
                </a:solidFill>
                <a:latin typeface="Plus Jakarta Sans"/>
              </a:rPr>
              <a:t>Reproductibilité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57550"/>
            <a:ext cx="5953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Lien Git, DVC et paramètres liés.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2914650"/>
            <a:ext cx="56769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4E3B"/>
                </a:solidFill>
                <a:latin typeface="Plus Jakarta Sans"/>
              </a:rPr>
              <a:t>Qualité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3257550"/>
            <a:ext cx="56769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Tests dbt, métriques et erreurs.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86250"/>
            <a:ext cx="625078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4E3B"/>
                </a:solidFill>
                <a:latin typeface="Plus Jakarta Sans"/>
              </a:rPr>
              <a:t>Traçabilité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29150"/>
            <a:ext cx="5953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Identification run et bundle.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4286250"/>
            <a:ext cx="56769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4E3B"/>
                </a:solidFill>
                <a:latin typeface="Plus Jakarta Sans"/>
              </a:rPr>
              <a:t>Exploitation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4629150"/>
            <a:ext cx="56769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Test prédiction depuis l'interface.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890712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TRAVAIL DE L'ÉQUIPE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166937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Analyse et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195637"/>
            <a:ext cx="651956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64E3B"/>
                </a:solidFill>
                <a:latin typeface="Plus Jakarta Sans"/>
              </a:rPr>
              <a:t>Data Scientist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05237"/>
            <a:ext cx="6209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081462"/>
            <a:ext cx="620910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Exploration OULAD et variables.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00562"/>
            <a:ext cx="6209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Livrable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776787"/>
            <a:ext cx="620910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Justification caractéristiques.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5112" y="3195637"/>
            <a:ext cx="557688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64E3B"/>
                </a:solidFill>
                <a:latin typeface="Plus Jakarta Sans"/>
              </a:rPr>
              <a:t>Data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5112" y="3805237"/>
            <a:ext cx="55768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5112" y="4081462"/>
            <a:ext cx="55768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Pipeline dlt et chargement DuckDB.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5112" y="4500562"/>
            <a:ext cx="55768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Livrable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5112" y="4776787"/>
            <a:ext cx="55768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Tables brutes disponibles.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890712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TRAVAIL DE L'ÉQUIPE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166937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Préparation et Modèles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195637"/>
            <a:ext cx="651956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64E3B"/>
                </a:solidFill>
                <a:latin typeface="Plus Jakarta Sans"/>
              </a:rPr>
              <a:t>Analytics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05237"/>
            <a:ext cx="6209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081462"/>
            <a:ext cx="620910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Modèles dbt et tests.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00562"/>
            <a:ext cx="6209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Livrable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776787"/>
            <a:ext cx="620910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Modèles SQL validés.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5112" y="3195637"/>
            <a:ext cx="557688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64E3B"/>
                </a:solidFill>
                <a:latin typeface="Plus Jakarta Sans"/>
              </a:rPr>
              <a:t>Machine Learning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5112" y="3805237"/>
            <a:ext cx="55768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Clustering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5112" y="4081462"/>
            <a:ext cx="55768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K-Means, GMM, DBSCAN implémentés.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5112" y="4500562"/>
            <a:ext cx="55768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Livrable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5112" y="4776787"/>
            <a:ext cx="55768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Code des modèles.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890712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TRAVAIL DE L'ÉQUIPE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166937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Suivi et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195637"/>
            <a:ext cx="651956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64E3B"/>
                </a:solidFill>
                <a:latin typeface="Plus Jakarta Sans"/>
              </a:rPr>
              <a:t>MLOps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05237"/>
            <a:ext cx="6209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Suivi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081462"/>
            <a:ext cx="620910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Évaluation métriques et MLflow.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00562"/>
            <a:ext cx="6209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Livrable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776787"/>
            <a:ext cx="620910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Expériences traçables.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5112" y="3195637"/>
            <a:ext cx="557688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64E3B"/>
                </a:solidFill>
                <a:latin typeface="Plus Jakarta Sans"/>
              </a:rPr>
              <a:t>Backend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5112" y="3805237"/>
            <a:ext cx="55768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Prédiction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5112" y="4081462"/>
            <a:ext cx="55768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Développement API FastAPI.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5112" y="4500562"/>
            <a:ext cx="55768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Livrable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5112" y="4776787"/>
            <a:ext cx="55768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API et schémas exploitables.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890712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TRAVAIL DE L'ÉQUIPE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166937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Frontend et Déploiement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195637"/>
            <a:ext cx="651956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64E3B"/>
                </a:solidFill>
                <a:latin typeface="Plus Jakarta Sans"/>
              </a:rPr>
              <a:t>Frontend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05237"/>
            <a:ext cx="6209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081462"/>
            <a:ext cx="620910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Dashboard React.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00562"/>
            <a:ext cx="62091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Livrable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776787"/>
            <a:ext cx="620910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Interface de consultation.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5112" y="3195637"/>
            <a:ext cx="557688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64E3B"/>
                </a:solidFill>
                <a:latin typeface="Plus Jakarta Sans"/>
              </a:rPr>
              <a:t>DevOps / Cloud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5112" y="3805237"/>
            <a:ext cx="55768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5112" y="4081462"/>
            <a:ext cx="55768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Docker, GitHub Actions, Komodo.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5112" y="4500562"/>
            <a:ext cx="55768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Livrable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5112" y="4776787"/>
            <a:ext cx="55768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Pipeline CI/CD complet.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381000" y="2500312"/>
            <a:ext cx="12954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b="1" sz="3000" i="0" u="none">
                <a:solidFill>
                  <a:srgbClr val="064E3B"/>
                </a:solidFill>
                <a:latin typeface="Plus Jakarta Sans"/>
              </a:rPr>
              <a:t>Équipe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778" y="3529012"/>
            <a:ext cx="1654968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Mohammed Hmimid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8090" y="3529012"/>
            <a:ext cx="2083593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Chakir Abderrahmane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57650" y="3529012"/>
            <a:ext cx="10287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Bahri Ilhame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3529012"/>
            <a:ext cx="118110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Aymene Chouki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0350" y="3529012"/>
            <a:ext cx="123825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Aldiebes Ghanem Israa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20050" y="3529012"/>
            <a:ext cx="1114425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Khadija Zaafa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05925" y="3529012"/>
            <a:ext cx="116205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Othman Salahi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9425" y="3529012"/>
            <a:ext cx="1400175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Makrani Mohamed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01514" y="3395662"/>
            <a:ext cx="1889968" cy="1104900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748682" y="3395662"/>
            <a:ext cx="2347317" cy="1104900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53200" y="3395662"/>
            <a:ext cx="1889968" cy="1104900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00368" y="3395662"/>
            <a:ext cx="1889968" cy="1104900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57562" y="2357437"/>
            <a:ext cx="7188398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10B981"/>
                </a:solidFill>
                <a:latin typeface="Plus Jakarta Sans"/>
              </a:rPr>
              <a:t>Démonstration du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36836" y="3700462"/>
            <a:ext cx="13701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6314" y="4014787"/>
            <a:ext cx="160046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monospace"/>
              </a:rPr>
              <a:t>localhost:4203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5178" y="3700462"/>
            <a:ext cx="63007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3482" y="4014787"/>
            <a:ext cx="217214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monospace"/>
              </a:rPr>
              <a:t>localhost:4201/docs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5209" y="3700462"/>
            <a:ext cx="102012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MLflow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014787"/>
            <a:ext cx="160046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monospace"/>
              </a:rPr>
              <a:t>localhost:4202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8565" y="3700462"/>
            <a:ext cx="107013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Dagster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5168" y="4014787"/>
            <a:ext cx="160046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monospace"/>
              </a:rPr>
              <a:t>localhost:4204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4478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22193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2098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2098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9813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9813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90675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62200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33725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360045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633537"/>
            <a:ext cx="6953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https://www.frontiersin.org/files/Articles/1709843/xml-images/fsufs-09-1709843-g0012.webp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833562"/>
            <a:ext cx="25360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www.frontiersin.org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405062"/>
            <a:ext cx="9798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https://images.stockcake.com/public/9/6/f/96ff9021-4c2b-4df8-8710-0e3f7b3d8ef8_large/industrial-pipeline-network-stockcake.jpg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605087"/>
            <a:ext cx="2119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3176587"/>
            <a:ext cx="9120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https://cdn.dribbble.com/userupload/47820052/file/5c23ca1ae2eb1f8afe3c87566f34b2ea.jpg?resize=420x&amp;vertical=center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376612"/>
            <a:ext cx="1952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dribbble.com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